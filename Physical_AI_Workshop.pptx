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80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E2E8F0"/>
                </a:solidFill>
                <a:latin typeface="Calibri"/>
              </a:defRPr>
            </a:pPr>
            <a:r>
              <a:t>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$12로 로봇 걷게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Isaac Lab + PPO로 ANYmal-C 4족 보행 로봇이</a:t>
            </a:r>
            <a:br/>
            <a:r>
              <a:t>거친 지형에서 걷는 법을 학습하는 전체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4572000"/>
            <a:ext cx="17373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75분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훈련 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572000"/>
            <a:ext cx="17373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$12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총 비용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72000"/>
            <a:ext cx="17373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4,096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병렬 환경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572000"/>
            <a:ext cx="17373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4709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onsolas"/>
              </a:defRPr>
            </a:pPr>
            <a:r>
              <a:t>1.47억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166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timestep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Isaac Lab · PPO · ANYmal-C · AWS g6e.4xlarge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📋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워크샵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7개 Lab + 3개 Appendix · 총 170분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1 · Physical AI 핵심 개념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54864" cy="914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2 · AWS GPU 인프라 구축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20분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54864" cy="9144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3 · Isaac Lab Docker 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39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5120639"/>
            <a:ext cx="54864" cy="9144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2577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4 · PPO 강화학습 훈련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75분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82880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1828800"/>
            <a:ext cx="54864" cy="9144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965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5 · 학습 결과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15분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92608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2926080"/>
            <a:ext cx="54864" cy="9144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3063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6 · Play 모드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429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02336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0" y="4023360"/>
            <a:ext cx="54864" cy="9144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4160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Lab 7 · 정리 &amp; 다음 단계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10분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5120640"/>
            <a:ext cx="5303520" cy="91440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Appendix A·B·C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트러블슈팅 12선 · 비용 분석 · SW 버전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02 /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0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60A5FA"/>
                </a:solidFill>
                <a:latin typeface="Consolas"/>
              </a:defRPr>
            </a:pPr>
            <a:r>
              <a:t>🏗️ LAB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전체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Terraform → EC2 GPU → Isaac Lab Docker → PPO 학습 → Policy Export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105156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03 /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01B29"/>
          </a:solidFill>
          <a:ln w="12700">
            <a:solidFill>
              <a:srgbClr val="2037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60A5FA"/>
                </a:solidFill>
                <a:latin typeface="Consolas"/>
              </a:defRPr>
            </a:pPr>
            <a:r>
              <a:t>☁️ LAB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AWS GPU 인프라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Terraform 한 줄로 전체 인프라를 코드로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029200" cy="438912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인스턴스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g6e.4xlarge (16 vCPU, 64 GB)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029200" cy="438912"/>
          </a:xfrm>
          <a:prstGeom prst="roundRect">
            <a:avLst/>
          </a:prstGeom>
          <a:solidFill>
            <a:srgbClr val="06080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404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04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NVIDIA L40S 48 GB VRAM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5029200" cy="438912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Root EBS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9077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300 GB gp3 (Docker 이미지)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37560"/>
            <a:ext cx="5029200" cy="438912"/>
          </a:xfrm>
          <a:prstGeom prst="roundRect">
            <a:avLst/>
          </a:prstGeom>
          <a:solidFill>
            <a:srgbClr val="06080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4107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Data EBS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107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500 GB gp3 (체크포인트)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029200" cy="438912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NVMe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913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Instance Store (셰이더 캐시)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343400"/>
            <a:ext cx="5029200" cy="438912"/>
          </a:xfrm>
          <a:prstGeom prst="roundRect">
            <a:avLst/>
          </a:prstGeom>
          <a:solidFill>
            <a:srgbClr val="06080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모니터링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CloudWatch GPU idle 자동 Stop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1828800"/>
            <a:ext cx="5486400" cy="4114800"/>
          </a:xfrm>
          <a:prstGeom prst="roundRect">
            <a:avLst/>
          </a:prstGeom>
          <a:solidFill>
            <a:srgbClr val="080A14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3분 만에 전체 인프라 배포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init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plan</a:t>
            </a:r>
          </a:p>
          <a:p>
            <a:pPr>
              <a:spcAft>
                <a:spcPts val="459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terraform apply</a:t>
            </a:r>
          </a:p>
          <a:p>
            <a:pPr>
              <a:spcAft>
                <a:spcPts val="359"/>
              </a:spcAft>
              <a:defRPr sz="800" b="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SSH 접속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ssh -i key.pem ubuntu@$(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  terraform output -raw public_ip)</a:t>
            </a:r>
          </a:p>
          <a:p>
            <a:pPr>
              <a:spcAft>
                <a:spcPts val="359"/>
              </a:spcAft>
              <a:defRPr sz="800" b="0">
                <a:solidFill>
                  <a:srgbClr val="E2E8F0"/>
                </a:solidFill>
                <a:latin typeface="Calibri"/>
              </a:defRPr>
            </a:pPr>
            <a:endParaRPr/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부팅 확인 (15-25분)</a:t>
            </a:r>
          </a:p>
          <a:p>
            <a:pPr>
              <a:spcAft>
                <a:spcPts val="439"/>
              </a:spcAft>
              <a:defRPr sz="1200" b="0">
                <a:solidFill>
                  <a:srgbClr val="60A5FA"/>
                </a:solidFill>
                <a:latin typeface="Calibri"/>
              </a:defRPr>
            </a:pPr>
            <a:r>
              <a:t>tail -f /var/log/isaac-lab-setup.log</a:t>
            </a:r>
          </a:p>
          <a:p>
            <a:pPr>
              <a:spcAft>
                <a:spcPts val="419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# → 'Isaac Lab setup COMPLETE'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29200"/>
            <a:ext cx="5029200" cy="54864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1023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💰 시간당 ~$3 · 전체 워크샵 ~$12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04 / 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🐳 LAB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Isaac Lab Docker 이미지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26.8 GB 컨테이너: Isaac Sim 4.5.0 + Isaac Lab v2.1.0 + RSL-RL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86400" cy="7772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NGC에 Isaac Lab 이미지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소스에서 docker compose 빌드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5486400" cy="7772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코어 isaaclab 패키지 누락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pip install --no-build-isolation 수동 설치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486400" cy="7772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402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749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⚠️ 기본 entrypoint 스트리밍 모드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→ --entrypoint 오버라이드 필수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8463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docker compose --profile base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846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~40분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440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pip install -e source/isaaclab + rsl_rl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440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~10분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943600"/>
            <a:ext cx="5486400" cy="502920"/>
          </a:xfrm>
          <a:prstGeom prst="roundRect">
            <a:avLst/>
          </a:prstGeom>
          <a:solidFill>
            <a:srgbClr val="0D1028"/>
          </a:solidFill>
          <a:ln w="12700">
            <a:solidFill>
              <a:srgbClr val="30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60350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60350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78BFA"/>
                </a:solidFill>
                <a:latin typeface="Consolas"/>
              </a:defRPr>
            </a:pPr>
            <a:r>
              <a:t>docker commit → isaac-lab-ready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6035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~1분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05 / Docker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42646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🏋️ LAB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PPO 강화학습 훈련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4,096 병렬 환경 · 1,500 iterations · 75분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03520" cy="685800"/>
          </a:xfrm>
          <a:prstGeom prst="roundRect">
            <a:avLst/>
          </a:prstGeom>
          <a:solidFill>
            <a:srgbClr val="091019"/>
          </a:solidFill>
          <a:ln w="12700">
            <a:solidFill>
              <a:srgbClr val="132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65760" cy="365760"/>
          </a:xfrm>
          <a:prstGeom prst="roundRect">
            <a:avLst/>
          </a:prstGeom>
          <a:solidFill>
            <a:srgbClr val="10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탐색기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0-40 · 랜덤 탐색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11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0A5FA"/>
                </a:solidFill>
                <a:latin typeface="Consolas"/>
              </a:defRPr>
            </a:pPr>
            <a:r>
              <a:t>-0.5 → -4.9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5303520" cy="685800"/>
          </a:xfrm>
          <a:prstGeom prst="roundRect">
            <a:avLst/>
          </a:prstGeom>
          <a:solidFill>
            <a:srgbClr val="100D19"/>
          </a:solidFill>
          <a:ln w="12700">
            <a:solidFill>
              <a:srgbClr val="21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365760" cy="365760"/>
          </a:xfrm>
          <a:prstGeom prst="roundRect">
            <a:avLst/>
          </a:prstGeom>
          <a:solidFill>
            <a:srgbClr val="1B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706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기초 학습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40-120 · 보행 패턴 습득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788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A78BFA"/>
                </a:solidFill>
                <a:latin typeface="Consolas"/>
              </a:defRPr>
            </a:pPr>
            <a:r>
              <a:t>-4.9 → +5.0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303520" cy="685800"/>
          </a:xfrm>
          <a:prstGeom prst="roundRect">
            <a:avLst/>
          </a:prstGeom>
          <a:solidFill>
            <a:srgbClr val="180B12"/>
          </a:solidFill>
          <a:ln w="12700">
            <a:solidFill>
              <a:srgbClr val="30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520440"/>
            <a:ext cx="365760" cy="365760"/>
          </a:xfrm>
          <a:prstGeom prst="roundRect">
            <a:avLst/>
          </a:prstGeom>
          <a:solidFill>
            <a:srgbClr val="281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54787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474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Calibri"/>
              </a:defRPr>
            </a:pPr>
            <a:r>
              <a:t>정교화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120-300 · 안정적 보행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5661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472B6"/>
                </a:solidFill>
                <a:latin typeface="Consolas"/>
              </a:defRPr>
            </a:pPr>
            <a:r>
              <a:t>+5.0 → +15.0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5303520" cy="685800"/>
          </a:xfrm>
          <a:prstGeom prst="roundRect">
            <a:avLst/>
          </a:prstGeom>
          <a:solidFill>
            <a:srgbClr val="05150F"/>
          </a:solidFill>
          <a:ln w="12700">
            <a:solidFill>
              <a:srgbClr val="0A2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365760" cy="365760"/>
          </a:xfrm>
          <a:prstGeom prst="roundRect">
            <a:avLst/>
          </a:prstGeom>
          <a:solidFill>
            <a:srgbClr val="0823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3251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51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수렴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26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iter 300-1500 · 정책 수렴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3434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4D399"/>
                </a:solidFill>
                <a:latin typeface="Consolas"/>
              </a:defRPr>
            </a:pPr>
            <a:r>
              <a:t>+15.0 → +16.3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5303520" cy="50292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153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51937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📈 에피소드 길이: 13 → 897 steps (×66배)</a:t>
            </a:r>
          </a:p>
        </p:txBody>
      </p:sp>
      <p:pic>
        <p:nvPicPr>
          <p:cNvPr id="32" name="Picture 31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303520" cy="3840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06 /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📊 LAB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학습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보상 +16.29 · 지형 난이도 5.9/6.25 · VRAM 10/48 GB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486400" cy="2926080"/>
          </a:xfrm>
          <a:prstGeom prst="rect">
            <a:avLst/>
          </a:prstGeom>
        </p:spPr>
      </p:pic>
      <p:pic>
        <p:nvPicPr>
          <p:cNvPr id="7" name="Picture 6" descr="dashboard_screensho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28800"/>
            <a:ext cx="5486400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5120640"/>
            <a:ext cx="26517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Consolas"/>
              </a:defRPr>
            </a:pPr>
            <a:r>
              <a:t>+16.29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최종 보상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5120640"/>
            <a:ext cx="26517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897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에피소드 길이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5120640"/>
            <a:ext cx="26517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5.9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지형 난이도 / 6.25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120640"/>
            <a:ext cx="265176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0" y="5257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10 GB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715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VRAM / 48 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07 /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31673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🎬 LAB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Play 모드 &amp; Policy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학습된 정책을 시각화하고, 실제 로봇용으로 변환</a:t>
            </a:r>
          </a:p>
        </p:txBody>
      </p:sp>
      <p:pic>
        <p:nvPicPr>
          <p:cNvPr id="6" name="Picture 5" descr="play30_frame_15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5669280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76072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ANYmal-C rough terrain 보행 (30초 비디오)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5029200" cy="457200"/>
          </a:xfrm>
          <a:prstGeom prst="roundRect">
            <a:avLst/>
          </a:prstGeom>
          <a:solidFill>
            <a:srgbClr val="100D20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산출물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크기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87451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Calibri"/>
              </a:defRPr>
            </a:pPr>
            <a:r>
              <a:t>용도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286000"/>
            <a:ext cx="5029200" cy="438912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359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model_1499.pt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591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6.6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학습 재개 / fine-tuning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743200"/>
            <a:ext cx="5029200" cy="438912"/>
          </a:xfrm>
          <a:prstGeom prst="roundRect">
            <a:avLst/>
          </a:prstGeom>
          <a:solidFill>
            <a:srgbClr val="06080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28163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policy.pt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163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1.2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8163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C++ JIT 실시간 추론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200400"/>
            <a:ext cx="5029200" cy="438912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32735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policy.onnx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735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1.1 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73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TensorRT / Jetson 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57600"/>
            <a:ext cx="5029200" cy="438912"/>
          </a:xfrm>
          <a:prstGeom prst="roundRect">
            <a:avLst/>
          </a:prstGeom>
          <a:solidFill>
            <a:srgbClr val="06080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7307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onsolas"/>
              </a:defRPr>
            </a:pPr>
            <a:r>
              <a:t>rl-video-*.mp4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7307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2.8 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730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시각적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08 / Play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975104" cy="320040"/>
          </a:xfrm>
          <a:prstGeom prst="roundRect">
            <a:avLst/>
          </a:prstGeom>
          <a:solidFill>
            <a:srgbClr val="1B1729"/>
          </a:solidFill>
          <a:ln w="12700">
            <a:solidFill>
              <a:srgbClr val="372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A78BFA"/>
                </a:solidFill>
                <a:latin typeface="Consolas"/>
              </a:defRPr>
            </a:pPr>
            <a:r>
              <a:t>🤖 SIM-TO-REAL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Sim-to-Real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시뮬레이션에서 학습한 '뇌'를 실제 로봇에 이식</a:t>
            </a:r>
          </a:p>
        </p:txBody>
      </p:sp>
      <p:pic>
        <p:nvPicPr>
          <p:cNvPr id="6" name="Picture 5" descr="sim_to_rea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062" y="1600200"/>
            <a:ext cx="8891752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09 / Sim-to-Real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nymal_c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1280160"/>
            <a:ext cx="9007366" cy="54779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865376" cy="320040"/>
          </a:xfrm>
          <a:prstGeom prst="roundRect">
            <a:avLst/>
          </a:prstGeom>
          <a:solidFill>
            <a:srgbClr val="28131E"/>
          </a:solidFill>
          <a:ln w="12700">
            <a:solidFill>
              <a:srgbClr val="512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472B6"/>
                </a:solidFill>
                <a:latin typeface="Consolas"/>
              </a:defRPr>
            </a:pPr>
            <a:r>
              <a:t>🦿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ANYmal-C 온보드 배포 구성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48차원 관측 → Jetson Orin TensorRT 추론 → 12차원 관절 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 /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645919" cy="320040"/>
          </a:xfrm>
          <a:prstGeom prst="roundRect">
            <a:avLst/>
          </a:prstGeom>
          <a:solidFill>
            <a:srgbClr val="29180A"/>
          </a:solidFill>
          <a:ln w="12700">
            <a:solidFill>
              <a:srgbClr val="533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FB923C"/>
                </a:solidFill>
                <a:latin typeface="Consolas"/>
              </a:defRPr>
            </a:pPr>
            <a:r>
              <a:t>🔧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실전 트러블슈팅 12선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공식 문서에 없는 실전 함정과 해결법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dpkg lock 경합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EBS 디바이스 이름 (Nitro)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606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45536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264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64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Instance store 이미 마운트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644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03904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22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Terraform templatefile 충돌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922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62272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581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581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user_data 재실행 안 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5811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20639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523951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395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Isaac Lab NGC 이미지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23951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828800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19476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9476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코어 isaaclab 패키지 누락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2487168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26060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Docker entrypoint 스트리밍 모드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2606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145536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37960" y="32644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2644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훈련 스크립트 경로 변경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326440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3803904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37960" y="392277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9227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setuptools 빌드 격리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3922776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462272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37960" y="45811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5811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Volume mount → editable 파괴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45811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5120639"/>
            <a:ext cx="5486400" cy="566928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37960" y="523951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23951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셰이더 캐시 첫 실행 지연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523951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2E8F0"/>
                </a:solidFill>
                <a:latin typeface="Calibri"/>
              </a:defRPr>
            </a:pPr>
            <a:r>
              <a:t>🟢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5852160"/>
            <a:ext cx="11064240" cy="457200"/>
          </a:xfrm>
          <a:prstGeom prst="roundRect">
            <a:avLst/>
          </a:prstGeom>
          <a:solidFill>
            <a:srgbClr val="150D20"/>
          </a:solidFill>
          <a:ln w="12700">
            <a:solidFill>
              <a:srgbClr val="302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3152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💡 🔴 Critical 4개 — 이것을 모르면 훈련 시작조차 할 수 없습니다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11 / Troubleshooting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207007" cy="320040"/>
          </a:xfrm>
          <a:prstGeom prst="roundRect">
            <a:avLst/>
          </a:prstGeom>
          <a:solidFill>
            <a:srgbClr val="082319"/>
          </a:solidFill>
          <a:ln w="12700">
            <a:solidFill>
              <a:srgbClr val="114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34D399"/>
                </a:solidFill>
                <a:latin typeface="Consolas"/>
              </a:defRPr>
            </a:pPr>
            <a:r>
              <a:t>💰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비용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클라우드 GPU로 로봇 AI를 학습하는 실제 비용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474720" cy="256032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82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이번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0A5FA"/>
                </a:solidFill>
                <a:latin typeface="Consolas"/>
              </a:defRPr>
            </a:pPr>
            <a:r>
              <a:t>~$12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g6e.4xlarge On-Demand</a:t>
            </a:r>
            <a:br/>
            <a:r>
              <a:t>Seoul · 4시간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11680"/>
            <a:ext cx="3474720" cy="256032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0D3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4D399"/>
                </a:solidFill>
                <a:latin typeface="Calibri"/>
              </a:defRPr>
            </a:pPr>
            <a:r>
              <a:t>비용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4D399"/>
                </a:solidFill>
                <a:latin typeface="Consolas"/>
              </a:defRPr>
            </a:pPr>
            <a:r>
              <a:t>~$2.50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g6e.4xlarge Spot</a:t>
            </a:r>
            <a:br/>
            <a:r>
              <a:t>Virginia 리전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3474720" cy="256032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29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E2E8F0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697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Calibri"/>
              </a:defRPr>
            </a:pPr>
            <a:r>
              <a:t>대규모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Consolas"/>
              </a:defRPr>
            </a:pPr>
            <a:r>
              <a:t>~$8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g6e.12xlarge Spot (4×L40S)</a:t>
            </a:r>
            <a:br/>
            <a:r>
              <a:t>Virginia 리전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303520" cy="502920"/>
          </a:xfrm>
          <a:prstGeom prst="roundRect">
            <a:avLst/>
          </a:prstGeom>
          <a:solidFill>
            <a:srgbClr val="0A1525"/>
          </a:solidFill>
          <a:ln w="12700">
            <a:solidFill>
              <a:srgbClr val="152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01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⏰ GPU 30분 idle → CloudWatch 자동 Stop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937760"/>
            <a:ext cx="5303520" cy="50292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122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5001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💾 S3 체크포인트 자동 동기화 (Spot 대비)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12 / Cost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5680" y="274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536192" cy="320040"/>
          </a:xfrm>
          <a:prstGeom prst="roundRect">
            <a:avLst/>
          </a:prstGeom>
          <a:solidFill>
            <a:srgbClr val="082319"/>
          </a:solidFill>
          <a:ln w="12700">
            <a:solidFill>
              <a:srgbClr val="114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  <a:defRPr sz="900" b="1">
                <a:solidFill>
                  <a:srgbClr val="34D399"/>
                </a:solidFill>
                <a:latin typeface="Consolas"/>
              </a:defRPr>
            </a:pPr>
            <a:r>
              <a:t>✅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2E8F0"/>
                </a:solidFill>
                <a:latin typeface="Calibri"/>
              </a:defRPr>
            </a:pPr>
            <a:r>
              <a:t>이번 워크샵에서 달성한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Terraform으로 AWS GPU 인프라를 코드로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7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Isaac Sim + Isaac Lab Docker 이미지 빌드 (26.8 GB)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05456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4,096개 병렬 환경에서 PPO 강화학습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809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75분 만에 1.47억 timestep 학습 완료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ANYmal-C가 rough terrain에서 안정적으로 보행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학습된 정책을 JIT/ONNX로 export (sim-to-real 준비)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074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  <a:latin typeface="Calibri"/>
              </a:defRPr>
            </a:pPr>
            <a:r>
              <a:t>✅ 총 비용: ~$12 (₩16,000)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인프라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🏋️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훈련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532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303520"/>
            <a:ext cx="1371600" cy="82296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0" y="5376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2E8F0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5742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Sim-to-Real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Physical AI Workshop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309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13 /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E2E8F0"/>
                </a:solidFill>
                <a:latin typeface="Calibri"/>
              </a:defRPr>
            </a:pPr>
            <a:r>
              <a:t>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A78BFA"/>
                </a:solidFill>
                <a:latin typeface="Calibri"/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$12로 4족 보행 로봇이 걷는 법을 배웠습니다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3931920"/>
            <a:ext cx="182880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onsolas"/>
              </a:defRPr>
            </a:pPr>
            <a:r>
              <a:t>Isaac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시뮬레이션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3931920"/>
            <a:ext cx="182880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78BFA"/>
                </a:solidFill>
                <a:latin typeface="Consolas"/>
              </a:defRPr>
            </a:pPr>
            <a:r>
              <a:t>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알고리즘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3931920"/>
            <a:ext cx="1828800" cy="1005840"/>
          </a:xfrm>
          <a:prstGeom prst="roundRect">
            <a:avLst/>
          </a:prstGeom>
          <a:solidFill>
            <a:srgbClr val="0C1022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472B6"/>
                </a:solidFill>
                <a:latin typeface="Consolas"/>
              </a:defRPr>
            </a:pPr>
            <a:r>
              <a:t>ANYmal-C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로봇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54864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GitHub · comeddy/pai-sim-isaaclab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965</Words>
  <Application>Microsoft Macintosh PowerPoint</Application>
  <PresentationFormat>Widescreen</PresentationFormat>
  <Paragraphs>267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Kim, Youngjin</cp:lastModifiedBy>
  <cp:revision>2</cp:revision>
  <dcterms:created xsi:type="dcterms:W3CDTF">2013-01-27T09:14:16Z</dcterms:created>
  <dcterms:modified xsi:type="dcterms:W3CDTF">2026-04-07T10:52:01Z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2026-04-07T10:52:01Z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e569e422-934c-42f1-8603-f9f19f4df4e3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